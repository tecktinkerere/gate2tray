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line, not the product. “One person can run an entire cabin-commerce team.” Small charter operators leave meal revenue on the table because they can't justify a five-person back office — Gate2Tray gives them one operator plus one bounded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pain concretely: meals catered to a guess fly unsold; preorder closes hours before boarding so late demand is lost; an unavailable item becomes an unresolved refund; nothing measures what to load next time. Four unstaffed jobs.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OPC thesis — this is the judging criterion. “One person sets the commercial rules; the agent runs the workflow.” The founder is software-only: menus, margins and relationships stay human. Five roles collapse into one supervised operator.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product correctly: it's an operations OS, and passenger ordering is just one output — not an airline booking site with AI bolted on. Four surfaces, one live database, operator command centre as the star.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accountable loop: observe, recommend, approve, execute, log. Emphasise step three — the agent stops and a human clears anything consequential. Every recommendation is in plain language with the policy it checked.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trust slide — the moat is the boundary. Three columns: what the agent may do automatically, what needs approval, and what it may never touch (safety, overriding a crew pause, inventing data). Human judgment guides AI execution, enforced in the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killer slide. Five flights, five different bounded outcomes: recommend, no-action, exception, needs-data, safety-hold. Say it plainly — a toy discounts everything; ours knows when NOT to act. Offer to switch flights live so judges see it refuse.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OPC transformation literal: demand analyst, revenue manager, e-commerce, support, reporting — each becomes an agent capability, while the founder keeps judgment and the airline relationships.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DEMO. Two phones, one URL, nothing faked. Recommend 10% → approve → passenger orders by QR → crew marks the item unavailable → passenger takes the refund → it all lands in the audit log. Keep the backup recording cued for stage wifi.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Prove it's real: four live surfaces, all five outcomes reachable, 28 passing tests, green build, zero mocked steps in the core loop. The ‘AI’ is honest — deterministic decisions, optional language layer only explains. Fresh-code, real commits, WCAG 2.2 AA.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arc: start at the gate, scale to every seat that waits — charter first, then ServePilot for ferries, lounges, coaches. “The founder sells and supervises; Gate2Tray runs the operation.” Invite them to watch the agent refuse to 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B23A72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66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24128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Gate2Tray 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17373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23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INFLIGHT COMMERCE, RUN BY ONE PERSON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210312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dirty="0">
                <a:solidFill>
                  <a:srgbClr val="231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person runs the whole
</a:t>
            </a:r>
            <a:pPr indent="0" marL="0">
              <a:lnSpc>
                <a:spcPct val="102000"/>
              </a:lnSpc>
              <a:buNone/>
            </a:pPr>
            <a:r>
              <a:rPr lang="en-US" sz="4600" dirty="0">
                <a:solidFill>
                  <a:srgbClr val="231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cabin </a:t>
            </a:r>
            <a:pPr indent="0" marL="0">
              <a:lnSpc>
                <a:spcPct val="102000"/>
              </a:lnSpc>
              <a:buNone/>
            </a:pPr>
            <a:r>
              <a:rPr lang="en-US" sz="4600" i="1" dirty="0">
                <a:solidFill>
                  <a:srgbClr val="B23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commerce team.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66928" y="41605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Gate2Tray OS lets a single operator forecast meal demand, price surplus, take passenger orders and settle refunds across a fleet of charter flights — supervising one bounded agent instead of hiring five specialists.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5257800"/>
            <a:ext cx="11057839" cy="0"/>
          </a:xfrm>
          <a:prstGeom prst="line">
            <a:avLst/>
          </a:prstGeom>
          <a:noFill/>
          <a:ln w="12700">
            <a:solidFill>
              <a:srgbClr val="E6DD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5440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23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→ 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66928" y="5852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roles, one operator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93008" y="5440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493008" y="5852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flights · 2 phones · 1 URL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19088" y="5440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mocked steps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19088" y="5852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agent · SQLite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B23A72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65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9264" y="3657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Gate2Tray OS</a:t>
            </a:r>
            <a:pPr indent="0" marL="0">
              <a:buNone/>
            </a:pPr>
            <a:r>
              <a:rPr lang="en-US" sz="1150" dirty="0">
                <a:solidFill>
                  <a:srgbClr val="94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Fleet Commerce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052767" y="3657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BUIDL_OPC Hackathon  ·  Singapore 2026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Gate2Tray OS</a:t>
            </a:r>
            <a:pPr indent="0" marL="0">
              <a:buNone/>
            </a:pPr>
            <a:r>
              <a:rPr lang="en-US" sz="1050" b="1" dirty="0">
                <a:solidFill>
                  <a:srgbClr val="B23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The gap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881567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pPr algn="r" indent="0" marL="0">
              <a:buNone/>
            </a:pPr>
            <a:r>
              <a:rPr lang="en-US" sz="1050" dirty="0">
                <a:solidFill>
                  <a:srgbClr val="94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23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298448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carriers can sell meals.</a:t>
            </a:r>
            <a:endParaRPr lang="en-US" sz="3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can't </a:t>
            </a:r>
            <a:endParaRPr lang="en-US" sz="3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300" b="1" i="1" dirty="0">
                <a:solidFill>
                  <a:srgbClr val="B23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the operation.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566928" y="278892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40-seat charter or tour flight has real ancillary revenue in its cabin. Capturing it needs a demand planner, a revenue manager, an e-commerce operator, a support agent and a reporting analyst — for a handful of seats a day. The maths never works, so meals fly loaded and unsold, and passengers who decide late at the gate get nothing.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72200" y="2633472"/>
            <a:ext cx="5532120" cy="0"/>
          </a:xfrm>
          <a:prstGeom prst="line">
            <a:avLst/>
          </a:prstGeom>
          <a:noFill/>
          <a:ln w="12700">
            <a:solidFill>
              <a:srgbClr val="E6DD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2743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flies </a:t>
            </a:r>
            <a:pPr indent="0" marL="0">
              <a:buNone/>
            </a:pPr>
            <a:r>
              <a:rPr lang="en-US" sz="1600" b="1" dirty="0">
                <a:solidFill>
                  <a:srgbClr val="B23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72200" y="312724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Catered to a guess, then written off as waste.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3931920"/>
            <a:ext cx="5532120" cy="0"/>
          </a:xfrm>
          <a:prstGeom prst="line">
            <a:avLst/>
          </a:prstGeom>
          <a:noFill/>
          <a:ln w="12700">
            <a:solidFill>
              <a:srgbClr val="E6DD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98280" y="2743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demand </a:t>
            </a:r>
            <a:pPr indent="0" marL="0">
              <a:buNone/>
            </a:pPr>
            <a:r>
              <a:rPr lang="en-US" sz="1600" b="1" dirty="0">
                <a:solidFill>
                  <a:srgbClr val="B23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98280" y="312724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preorder closes hours before boarding.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3931920"/>
            <a:ext cx="5532120" cy="0"/>
          </a:xfrm>
          <a:prstGeom prst="line">
            <a:avLst/>
          </a:prstGeom>
          <a:noFill/>
          <a:ln w="12700">
            <a:solidFill>
              <a:srgbClr val="E6DD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417880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</a:t>
            </a:r>
            <a:pPr indent="0" marL="0">
              <a:buNone/>
            </a:pPr>
            <a:r>
              <a:rPr lang="en-US" sz="1600" b="1" dirty="0">
                <a:solidFill>
                  <a:srgbClr val="B23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72200" y="4562856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unavailable item becomes an unresolved refund.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5367528"/>
            <a:ext cx="5532120" cy="0"/>
          </a:xfrm>
          <a:prstGeom prst="line">
            <a:avLst/>
          </a:prstGeom>
          <a:noFill/>
          <a:ln w="12700">
            <a:solidFill>
              <a:srgbClr val="E6DD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98280" y="417880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</a:t>
            </a:r>
            <a:pPr indent="0" marL="0">
              <a:buNone/>
            </a:pPr>
            <a:r>
              <a:rPr lang="en-US" sz="1600" b="1" dirty="0">
                <a:solidFill>
                  <a:srgbClr val="B23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98280" y="4562856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 what sold, or what to load next time.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72200" y="5367528"/>
            <a:ext cx="5532120" cy="0"/>
          </a:xfrm>
          <a:prstGeom prst="line">
            <a:avLst/>
          </a:prstGeom>
          <a:noFill/>
          <a:ln w="12700">
            <a:solidFill>
              <a:srgbClr val="E6DDE2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B23A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65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23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9264" y="3657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Gate2Tray OS</a:t>
            </a:r>
            <a:pPr indent="0" marL="0">
              <a:buNone/>
            </a:pPr>
            <a:r>
              <a:rPr lang="en-US" sz="115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Fleet Commerce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052767" y="3657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BUIDL_OPC Hackathon  ·  Singapore 2026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Gate2Tray OS</a:t>
            </a:r>
            <a:pPr indent="0" marL="0">
              <a:buNone/>
            </a:pPr>
            <a:r>
              <a:rPr lang="en-US" sz="1050" b="1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The thesis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881567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pPr algn="r"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PERSON COMPANY THESIS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1737360"/>
            <a:ext cx="6126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person sets the commercial rules. </a:t>
            </a:r>
            <a:pPr indent="0" marL="0">
              <a:lnSpc>
                <a:spcPct val="116000"/>
              </a:lnSpc>
              <a:buNone/>
            </a:pPr>
            <a:r>
              <a:rPr lang="en-US" sz="3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runs the operating workflow.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132320" y="228600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founder is a solo cabin-commerce operator — software only. They configure menus, set pricing boundaries and own the airline relationships, and approve the calls that matter.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132320" y="379476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repeatable judgment in between is delegated to a single bounded agent that knows exactly where its authority ends.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B23A72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65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9264" y="3657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Gate2Tray OS</a:t>
            </a:r>
            <a:pPr indent="0" marL="0">
              <a:buNone/>
            </a:pPr>
            <a:r>
              <a:rPr lang="en-US" sz="1150" dirty="0">
                <a:solidFill>
                  <a:srgbClr val="94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Fleet Commerce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052767" y="3657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BUIDL_OPC Hackathon  ·  Singapore 2026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Gate2Tray OS</a:t>
            </a:r>
            <a:pPr indent="0" marL="0">
              <a:buNone/>
            </a:pPr>
            <a:r>
              <a:rPr lang="en-US" sz="1050" b="1" dirty="0">
                <a:solidFill>
                  <a:srgbClr val="B23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The product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881567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pPr algn="r" indent="0" marL="0">
              <a:buNone/>
            </a:pPr>
            <a:r>
              <a:rPr lang="en-US" sz="1050" dirty="0">
                <a:solidFill>
                  <a:srgbClr val="94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23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298448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operating system — with</a:t>
            </a:r>
            <a:endParaRPr lang="en-US" sz="3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ordering as </a:t>
            </a:r>
            <a:endParaRPr lang="en-US" sz="3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100" b="1" i="1" dirty="0">
                <a:solidFill>
                  <a:srgbClr val="B23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output.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566928" y="27432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responsive surfaces on one live database. The operator surface is the product; the passenger and crew surfaces are warmer, simpler edges of the same workflow.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66928" y="3703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/operator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40690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centre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66928" y="448056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 needing attention, pending approvals, inventory risk, revenue impact and the full agent audit trail.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82696" y="3703320"/>
            <a:ext cx="0" cy="2194560"/>
          </a:xfrm>
          <a:prstGeom prst="line">
            <a:avLst/>
          </a:prstGeom>
          <a:noFill/>
          <a:ln w="12700">
            <a:solidFill>
              <a:srgbClr val="E6DD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92424" y="3703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/order · QR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92424" y="40690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392424" y="448056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at the gate, see live price and stock, reserve a meal, pick a service window. Wallet-simple.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08192" y="3703320"/>
            <a:ext cx="0" cy="2194560"/>
          </a:xfrm>
          <a:prstGeom prst="line">
            <a:avLst/>
          </a:prstGeom>
          <a:noFill/>
          <a:ln w="12700">
            <a:solidFill>
              <a:srgbClr val="E6DD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3703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/crew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40690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Fulfilment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217920" y="448056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cabin section. Start, pause, mark unavailable, mark delivered — glanceable, two taps.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933688" y="3703320"/>
            <a:ext cx="0" cy="2194560"/>
          </a:xfrm>
          <a:prstGeom prst="line">
            <a:avLst/>
          </a:prstGeom>
          <a:noFill/>
          <a:ln w="12700">
            <a:solidFill>
              <a:srgbClr val="E6DD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43416" y="3703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/track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043416" y="40690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043416" y="448056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status, and the passenger-approved substitution or simulated refund when something fails.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B23A72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65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9264" y="3657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Gate2Tray OS</a:t>
            </a:r>
            <a:pPr indent="0" marL="0">
              <a:buNone/>
            </a:pPr>
            <a:r>
              <a:rPr lang="en-US" sz="1150" dirty="0">
                <a:solidFill>
                  <a:srgbClr val="94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Fleet Commerce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052767" y="3657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BUIDL_OPC Hackathon  ·  Singapore 2026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Gate2Tray OS</a:t>
            </a:r>
            <a:pPr indent="0" marL="0">
              <a:buNone/>
            </a:pPr>
            <a:r>
              <a:rPr lang="en-US" sz="1050" b="1" dirty="0">
                <a:solidFill>
                  <a:srgbClr val="B23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How it works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881567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pPr algn="r" indent="0" marL="0">
              <a:buNone/>
            </a:pPr>
            <a:r>
              <a:rPr lang="en-US" sz="1050" dirty="0">
                <a:solidFill>
                  <a:srgbClr val="94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23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298448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runs one </a:t>
            </a:r>
            <a:pPr indent="0" marL="0">
              <a:lnSpc>
                <a:spcPct val="100000"/>
              </a:lnSpc>
              <a:buNone/>
            </a:pPr>
            <a:r>
              <a:rPr lang="en-US" sz="3300" b="1" i="1" dirty="0">
                <a:solidFill>
                  <a:srgbClr val="B23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 loop.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566928" y="22860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black box. The agent observes evidence, proposes in plain words, and then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human clears the consequential step before anything reaches a passenger or a price.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66928" y="329184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D8CD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" y="395020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66928" y="4343400"/>
            <a:ext cx="20848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manifest, velocity, freshness — one versioned snapshot.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15768" y="3291840"/>
            <a:ext cx="0" cy="2103120"/>
          </a:xfrm>
          <a:prstGeom prst="line">
            <a:avLst/>
          </a:prstGeom>
          <a:noFill/>
          <a:ln w="12700">
            <a:solidFill>
              <a:srgbClr val="E6DD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79776" y="329184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D8CD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779776" y="395020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2779776" y="4343400"/>
            <a:ext cx="20848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“10% because 13 meals may go unsold; margin stays above 25%.”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28616" y="3291840"/>
            <a:ext cx="0" cy="2103120"/>
          </a:xfrm>
          <a:prstGeom prst="line">
            <a:avLst/>
          </a:prstGeom>
          <a:noFill/>
          <a:ln w="12700">
            <a:solidFill>
              <a:srgbClr val="E6DD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92624" y="329184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B23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992624" y="395020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872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4992624" y="4343400"/>
            <a:ext cx="20848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approves, edits or rejects. This gate is the point.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92624" y="5440680"/>
            <a:ext cx="1947672" cy="0"/>
          </a:xfrm>
          <a:prstGeom prst="line">
            <a:avLst/>
          </a:prstGeom>
          <a:noFill/>
          <a:ln w="25400">
            <a:solidFill>
              <a:srgbClr val="B23A7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41464" y="3291840"/>
            <a:ext cx="0" cy="2103120"/>
          </a:xfrm>
          <a:prstGeom prst="line">
            <a:avLst/>
          </a:prstGeom>
          <a:noFill/>
          <a:ln w="12700">
            <a:solidFill>
              <a:srgbClr val="E6DD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05472" y="329184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D8CD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7205472" y="395020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7205472" y="4343400"/>
            <a:ext cx="20848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the offer, reserves stock, issues the mock refund.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354312" y="3291840"/>
            <a:ext cx="0" cy="2103120"/>
          </a:xfrm>
          <a:prstGeom prst="line">
            <a:avLst/>
          </a:prstGeom>
          <a:noFill/>
          <a:ln w="12700">
            <a:solidFill>
              <a:srgbClr val="E6DD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0" y="329184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D8CD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9418320" y="395020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9418320" y="4343400"/>
            <a:ext cx="20848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auditable and scoped to its own flight.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B23A72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65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9264" y="3657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Gate2Tray OS</a:t>
            </a:r>
            <a:pPr indent="0" marL="0">
              <a:buNone/>
            </a:pPr>
            <a:r>
              <a:rPr lang="en-US" sz="1150" dirty="0">
                <a:solidFill>
                  <a:srgbClr val="94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Fleet Commerce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052767" y="3657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BUIDL_OPC Hackathon  ·  Singapore 2026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Gate2Tray OS</a:t>
            </a:r>
            <a:pPr indent="0" marL="0">
              <a:buNone/>
            </a:pPr>
            <a:r>
              <a:rPr lang="en-US" sz="1050" b="1" dirty="0">
                <a:solidFill>
                  <a:srgbClr val="B23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Trust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881567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pPr algn="r" indent="0" marL="0">
              <a:buNone/>
            </a:pPr>
            <a:r>
              <a:rPr lang="en-US" sz="1050" dirty="0">
                <a:solidFill>
                  <a:srgbClr val="94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23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CAN TRUST 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298448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 is the </a:t>
            </a:r>
            <a:pPr indent="0" marL="0">
              <a:lnSpc>
                <a:spcPct val="100000"/>
              </a:lnSpc>
              <a:buNone/>
            </a:pPr>
            <a:r>
              <a:rPr lang="en-US" sz="3300" b="1" i="1" dirty="0">
                <a:solidFill>
                  <a:srgbClr val="B23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boundary.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566928" y="22402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judgment guides AI execution — declared, enforced and visible in the interface. The agent is useful precisely because it knows what it must never touch.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" y="309981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F857A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300837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may do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6928" y="352044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demand from evidence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available inventory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within the approved band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refunds under S$20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passengers &amp; write summaries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42232" y="3063240"/>
            <a:ext cx="0" cy="2743200"/>
          </a:xfrm>
          <a:prstGeom prst="line">
            <a:avLst/>
          </a:prstGeom>
          <a:noFill/>
          <a:ln w="12700">
            <a:solidFill>
              <a:srgbClr val="E6DD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34256" y="309981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86D1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300837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operator approval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334256" y="352044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any discount campaign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beyond the auto threshold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 of S$20 or more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menu or margin rules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order cancellation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09560" y="3063240"/>
            <a:ext cx="0" cy="2743200"/>
          </a:xfrm>
          <a:prstGeom prst="line">
            <a:avLst/>
          </a:prstGeom>
          <a:noFill/>
          <a:ln w="12700">
            <a:solidFill>
              <a:srgbClr val="E6DD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01584" y="309981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BD3F2F"/>
          </a:solidFill>
          <a:ln/>
        </p:spPr>
      </p:sp>
      <p:sp>
        <p:nvSpPr>
          <p:cNvPr id="20" name="Text 18"/>
          <p:cNvSpPr/>
          <p:nvPr/>
        </p:nvSpPr>
        <p:spPr>
          <a:xfrm>
            <a:off x="8339328" y="300837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may never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01584" y="352044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whether the cabin is safe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a crew service pause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a meal without consent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 stock, price or allergen data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inventory that isn't confirmed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B23A72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65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9264" y="3657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Gate2Tray OS</a:t>
            </a:r>
            <a:pPr indent="0" marL="0">
              <a:buNone/>
            </a:pPr>
            <a:r>
              <a:rPr lang="en-US" sz="1150" dirty="0">
                <a:solidFill>
                  <a:srgbClr val="94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Fleet Commerce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052767" y="3657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BUIDL_OPC Hackathon  ·  Singapore 2026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Gate2Tray OS</a:t>
            </a:r>
            <a:pPr indent="0" marL="0">
              <a:buNone/>
            </a:pPr>
            <a:r>
              <a:rPr lang="en-US" sz="1050" b="1" dirty="0">
                <a:solidFill>
                  <a:srgbClr val="B23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The proof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881567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pPr algn="r" indent="0" marL="0">
              <a:buNone/>
            </a:pPr>
            <a:r>
              <a:rPr lang="en-US" sz="1050" dirty="0">
                <a:solidFill>
                  <a:srgbClr val="94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298448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flights. Five different </a:t>
            </a:r>
            <a:pPr indent="0" marL="0">
              <a:lnSpc>
                <a:spcPct val="100000"/>
              </a:lnSpc>
              <a:buNone/>
            </a:pPr>
            <a:r>
              <a:rPr lang="en-US" sz="3000" b="1" i="1" dirty="0">
                <a:solidFill>
                  <a:srgbClr val="B23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outcomes.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66928" y="22128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toy discounts everything. Ours knows when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act — that restraint is the whole demo.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66928" y="27432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4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600200" y="27432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4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STRESS CASE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17720" y="27432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4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DECISION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464040" y="274320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4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3054096"/>
            <a:ext cx="11057839" cy="0"/>
          </a:xfrm>
          <a:prstGeom prst="line">
            <a:avLst/>
          </a:prstGeom>
          <a:noFill/>
          <a:ln w="15875">
            <a:solidFill>
              <a:srgbClr val="D8CD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12724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MC201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312724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surplus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pax · 46 meals loaded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17720" y="312724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a 10% gate offer, then wait for approval.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464040" y="336042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B23A72"/>
          </a:solidFill>
          <a:ln/>
        </p:spPr>
      </p:sp>
      <p:sp>
        <p:nvSpPr>
          <p:cNvPr id="20" name="Text 18"/>
          <p:cNvSpPr/>
          <p:nvPr/>
        </p:nvSpPr>
        <p:spPr>
          <a:xfrm>
            <a:off x="9683496" y="3127248"/>
            <a:ext cx="1929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3730752"/>
            <a:ext cx="11057839" cy="0"/>
          </a:xfrm>
          <a:prstGeom prst="line">
            <a:avLst/>
          </a:prstGeom>
          <a:noFill/>
          <a:ln w="12700">
            <a:solidFill>
              <a:srgbClr val="E6DD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730752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SA418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00200" y="3730752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sell-out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final units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617720" y="3730752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no price action — stock is already scarce.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464040" y="3963924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F857A"/>
          </a:solidFill>
          <a:ln/>
        </p:spPr>
      </p:sp>
      <p:sp>
        <p:nvSpPr>
          <p:cNvPr id="26" name="Text 24"/>
          <p:cNvSpPr/>
          <p:nvPr/>
        </p:nvSpPr>
        <p:spPr>
          <a:xfrm>
            <a:off x="9683496" y="3730752"/>
            <a:ext cx="1929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66928" y="4334256"/>
            <a:ext cx="11057839" cy="0"/>
          </a:xfrm>
          <a:prstGeom prst="line">
            <a:avLst/>
          </a:prstGeom>
          <a:noFill/>
          <a:ln w="12700">
            <a:solidFill>
              <a:srgbClr val="E6DD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334256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IH307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00200" y="4334256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shortfall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dietary constraints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617720" y="433425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 pricing; offer a compatible substitute or refund.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9464040" y="4567428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BD3F2F"/>
          </a:solidFill>
          <a:ln/>
        </p:spPr>
      </p:sp>
      <p:sp>
        <p:nvSpPr>
          <p:cNvPr id="32" name="Text 30"/>
          <p:cNvSpPr/>
          <p:nvPr/>
        </p:nvSpPr>
        <p:spPr>
          <a:xfrm>
            <a:off x="9683496" y="4334256"/>
            <a:ext cx="1929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D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66928" y="4937760"/>
            <a:ext cx="11057839" cy="0"/>
          </a:xfrm>
          <a:prstGeom prst="line">
            <a:avLst/>
          </a:prstGeom>
          <a:noFill/>
          <a:ln w="12700">
            <a:solidFill>
              <a:srgbClr val="E6DD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4937760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OE105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600200" y="4937760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change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manifest / loading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4617720" y="4937760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nothing — demand fresh evidence first.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9464040" y="517093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A86D10"/>
          </a:solidFill>
          <a:ln/>
        </p:spPr>
      </p:sp>
      <p:sp>
        <p:nvSpPr>
          <p:cNvPr id="38" name="Text 36"/>
          <p:cNvSpPr/>
          <p:nvPr/>
        </p:nvSpPr>
        <p:spPr>
          <a:xfrm>
            <a:off x="9683496" y="4937760"/>
            <a:ext cx="1929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6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data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66928" y="5541264"/>
            <a:ext cx="11057839" cy="0"/>
          </a:xfrm>
          <a:prstGeom prst="line">
            <a:avLst/>
          </a:prstGeom>
          <a:noFill/>
          <a:ln w="12700">
            <a:solidFill>
              <a:srgbClr val="E6DDE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5541264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SB660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600200" y="5541264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pause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cabin service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4617720" y="5541264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commerce; protect reservations until crew resume.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9464040" y="577443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4A63B8"/>
          </a:solidFill>
          <a:ln/>
        </p:spPr>
      </p:sp>
      <p:sp>
        <p:nvSpPr>
          <p:cNvPr id="44" name="Text 42"/>
          <p:cNvSpPr/>
          <p:nvPr/>
        </p:nvSpPr>
        <p:spPr>
          <a:xfrm>
            <a:off x="9683496" y="5541264"/>
            <a:ext cx="1929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6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hold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B23A72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65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9264" y="3657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Gate2Tray OS</a:t>
            </a:r>
            <a:pPr indent="0" marL="0">
              <a:buNone/>
            </a:pPr>
            <a:r>
              <a:rPr lang="en-US" sz="1150" dirty="0">
                <a:solidFill>
                  <a:srgbClr val="94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Fleet Commerce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052767" y="3657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BUIDL_OPC Hackathon  ·  Singapore 2026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Gate2Tray OS</a:t>
            </a:r>
            <a:pPr indent="0" marL="0">
              <a:buNone/>
            </a:pPr>
            <a:r>
              <a:rPr lang="en-US" sz="1050" b="1" dirty="0">
                <a:solidFill>
                  <a:srgbClr val="B23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Transformation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881567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pPr algn="r" indent="0" marL="0">
              <a:buNone/>
            </a:pPr>
            <a:r>
              <a:rPr lang="en-US" sz="1050" dirty="0">
                <a:solidFill>
                  <a:srgbClr val="94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23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OPC TRANSFORMATION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298448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five-person back office,</a:t>
            </a:r>
            <a:endParaRPr lang="en-US" sz="2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by </a:t>
            </a:r>
            <a:endParaRPr lang="en-US" sz="2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900" b="1" i="1" dirty="0">
                <a:solidFill>
                  <a:srgbClr val="B23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accountable human.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566928" y="3200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founder keeps the judgment.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66928" y="370332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Menus, margins, exception policy and airline relationships stay human. The agent takes the repeatable analysis and execution — and hands back a decision whenever the stakes or the ambiguity rise.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126480" y="1600200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analyst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58200" y="160020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23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915400" y="1600200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likely meal demand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0" y="2276856"/>
            <a:ext cx="5989320" cy="0"/>
          </a:xfrm>
          <a:prstGeom prst="line">
            <a:avLst/>
          </a:prstGeom>
          <a:noFill/>
          <a:ln w="12700">
            <a:solidFill>
              <a:srgbClr val="E6DD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276856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manager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58200" y="2276856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23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915400" y="2276856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bounded surplus discounts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26480" y="2953512"/>
            <a:ext cx="5989320" cy="0"/>
          </a:xfrm>
          <a:prstGeom prst="line">
            <a:avLst/>
          </a:prstGeom>
          <a:noFill/>
          <a:ln w="12700">
            <a:solidFill>
              <a:srgbClr val="E6DD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2953512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manager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58200" y="2953512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23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915400" y="2953512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flight-specific QR offers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26480" y="3630168"/>
            <a:ext cx="5989320" cy="0"/>
          </a:xfrm>
          <a:prstGeom prst="line">
            <a:avLst/>
          </a:prstGeom>
          <a:noFill/>
          <a:ln w="12700">
            <a:solidFill>
              <a:srgbClr val="E6DD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3630168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58200" y="3630168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23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915400" y="3630168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Substitutions, cancellations, refunds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26480" y="4306824"/>
            <a:ext cx="5989320" cy="0"/>
          </a:xfrm>
          <a:prstGeom prst="line">
            <a:avLst/>
          </a:prstGeom>
          <a:noFill/>
          <a:ln w="12700">
            <a:solidFill>
              <a:srgbClr val="E6DD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4306824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analyst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58200" y="4306824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23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915400" y="4306824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Post-flight sales &amp; waste summaries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B23A72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65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9264" y="3657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Gate2Tray OS</a:t>
            </a:r>
            <a:pPr indent="0" marL="0">
              <a:buNone/>
            </a:pPr>
            <a:r>
              <a:rPr lang="en-US" sz="1150" dirty="0">
                <a:solidFill>
                  <a:srgbClr val="94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Fleet Commerce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052767" y="3657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BUIDL_OPC Hackathon  ·  Singapore 2026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Gate2Tray OS</a:t>
            </a:r>
            <a:pPr indent="0" marL="0">
              <a:buNone/>
            </a:pPr>
            <a:r>
              <a:rPr lang="en-US" sz="1050" b="1" dirty="0">
                <a:solidFill>
                  <a:srgbClr val="B23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Live demo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881567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pPr algn="r" indent="0" marL="0">
              <a:buNone/>
            </a:pPr>
            <a:r>
              <a:rPr lang="en-US" sz="1050" dirty="0">
                <a:solidFill>
                  <a:srgbClr val="94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90 SECONDS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298448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loop, </a:t>
            </a:r>
            <a:pPr indent="0" marL="0">
              <a:lnSpc>
                <a:spcPct val="100000"/>
              </a:lnSpc>
              <a:buNone/>
            </a:pPr>
            <a:r>
              <a:rPr lang="en-US" sz="3300" b="1" i="1" dirty="0">
                <a:solidFill>
                  <a:srgbClr val="B23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end.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566928" y="22860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phones, one deployed URL, nothing faked. Watch the recommendation, the human approval, a passenger order, a cabin exception and the agent's refund — all landing in the audit log in real time.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D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35661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B23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recommends 10%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206240" y="356616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D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35661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B23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approves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845552" y="356616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D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74152" y="35661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B23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orders via QR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66928" y="484632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D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48463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B23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marks item unavailable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206240" y="484632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D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48463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B23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 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takes refund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845552" y="484632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D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74152" y="48463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B23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 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&amp; reconciled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66928" y="5989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recording ready  ·  demo state resets to five clean scenarios on demand.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B23A72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65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9264" y="3657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Gate2Tray OS</a:t>
            </a:r>
            <a:pPr indent="0" marL="0">
              <a:buNone/>
            </a:pPr>
            <a:r>
              <a:rPr lang="en-US" sz="1150" dirty="0">
                <a:solidFill>
                  <a:srgbClr val="94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Fleet Commerce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052767" y="3657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BUIDL_OPC Hackathon  ·  Singapore 2026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Gate2Tray OS</a:t>
            </a:r>
            <a:pPr indent="0" marL="0">
              <a:buNone/>
            </a:pPr>
            <a:r>
              <a:rPr lang="en-US" sz="1050" b="1" dirty="0">
                <a:solidFill>
                  <a:srgbClr val="B23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What's real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881567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pPr algn="r" indent="0" marL="0">
              <a:buNone/>
            </a:pPr>
            <a:r>
              <a:rPr lang="en-US" sz="1050" dirty="0">
                <a:solidFill>
                  <a:srgbClr val="94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23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TODAY · HONEST SCOPE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298448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system, not a </a:t>
            </a:r>
            <a:pPr indent="0" marL="0">
              <a:lnSpc>
                <a:spcPct val="100000"/>
              </a:lnSpc>
              <a:buNone/>
            </a:pPr>
            <a:r>
              <a:rPr lang="en-US" sz="3100" b="1" i="1" dirty="0">
                <a:solidFill>
                  <a:srgbClr val="B23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of promises.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566928" y="2633472"/>
            <a:ext cx="11057839" cy="0"/>
          </a:xfrm>
          <a:prstGeom prst="line">
            <a:avLst/>
          </a:prstGeom>
          <a:noFill/>
          <a:ln w="15875">
            <a:solidFill>
              <a:srgbClr val="D8CD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7432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566928" y="35844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surfaces on one SQLite database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82696" y="2743200"/>
            <a:ext cx="0" cy="1280160"/>
          </a:xfrm>
          <a:prstGeom prst="line">
            <a:avLst/>
          </a:prstGeom>
          <a:noFill/>
          <a:ln w="12700">
            <a:solidFill>
              <a:srgbClr val="E6DD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92424" y="27432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B23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3392424" y="35844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agent outcomes, all reachable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08192" y="2743200"/>
            <a:ext cx="0" cy="1280160"/>
          </a:xfrm>
          <a:prstGeom prst="line">
            <a:avLst/>
          </a:prstGeom>
          <a:noFill/>
          <a:ln w="12700">
            <a:solidFill>
              <a:srgbClr val="E6DD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7432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F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6217920" y="35844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tests · typecheck · lint · build green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33688" y="2743200"/>
            <a:ext cx="0" cy="1280160"/>
          </a:xfrm>
          <a:prstGeom prst="line">
            <a:avLst/>
          </a:prstGeom>
          <a:noFill/>
          <a:ln w="12700">
            <a:solidFill>
              <a:srgbClr val="E6DD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43416" y="27432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23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000" dirty="0"/>
          </a:p>
        </p:txBody>
      </p:sp>
      <p:sp>
        <p:nvSpPr>
          <p:cNvPr id="21" name="Text 19"/>
          <p:cNvSpPr/>
          <p:nvPr/>
        </p:nvSpPr>
        <p:spPr>
          <a:xfrm>
            <a:off x="9043416" y="35844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Mocked steps in the core loop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4160520"/>
            <a:ext cx="11057839" cy="0"/>
          </a:xfrm>
          <a:prstGeom prst="line">
            <a:avLst/>
          </a:prstGeom>
          <a:noFill/>
          <a:ln w="15875">
            <a:solidFill>
              <a:srgbClr val="D8CD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461772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23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“AI” is honest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" y="5001768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deterministic, policy-constrained agent makes the real decisions on one versioned snapshot. An optional language layer only explains and communicates — it never invents a price, a stock level or an allergen.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16168" y="4617720"/>
            <a:ext cx="0" cy="1371600"/>
          </a:xfrm>
          <a:prstGeom prst="line">
            <a:avLst/>
          </a:prstGeom>
          <a:noFill/>
          <a:ln w="12700">
            <a:solidFill>
              <a:srgbClr val="E6DD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0488" y="461772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23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Fresh-code &amp; accessible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190488" y="5001768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from zero during the hacking window with real commit history. Next.js, Zod-validated commands, WCAG 2.2 AA, 44px targets, keyboard &amp; reduced-motion support throughout.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31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65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23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9264" y="3657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Gate2Tray OS</a:t>
            </a:r>
            <a:pPr indent="0" marL="0">
              <a:buNone/>
            </a:pPr>
            <a:r>
              <a:rPr lang="en-US" sz="115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Fleet Commerce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052767" y="3657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BUIDL_OPC Hackathon  ·  Singapore 2026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Gate2Tray OS</a:t>
            </a:r>
            <a:pPr indent="0" marL="0">
              <a:buNone/>
            </a:pPr>
            <a:r>
              <a:rPr lang="en-US" sz="1050" b="1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The ask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881567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pPr algn="r"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F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1691640"/>
            <a:ext cx="5577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the gate.
</a:t>
            </a:r>
            <a:pPr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</a:t>
            </a:r>
            <a:pPr indent="0" marL="0">
              <a:lnSpc>
                <a:spcPct val="102000"/>
              </a:lnSpc>
              <a:buNone/>
            </a:pPr>
            <a:r>
              <a:rPr lang="en-US" sz="3300" b="1" i="1" dirty="0">
                <a:solidFill>
                  <a:srgbClr val="E88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seat that waits.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566928" y="402336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founder sells and supervises. Gate2Tray runs the operation.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355080" y="1655064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80960" y="1655064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Leisure charter, corporate shuttle &amp; tour flights — 20–80 passengers, repeatable routes, no back office to displace.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55080" y="2569464"/>
            <a:ext cx="5257800" cy="0"/>
          </a:xfrm>
          <a:prstGeom prst="line">
            <a:avLst/>
          </a:prstGeom>
          <a:noFill/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679192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80960" y="267919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Software-only OPC. White-labelled ordering pages, operator dashboard and the agentic workflow — no kitchens, no aircraft.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55080" y="3593592"/>
            <a:ext cx="5257800" cy="0"/>
          </a:xfrm>
          <a:prstGeom prst="line">
            <a:avLst/>
          </a:prstGeom>
          <a:noFill/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370332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80960" y="37033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ServePilot — the same engine for ferries, lounges, coaches and event shuttles, wherever loaded inventory meets late demand.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4617720"/>
            <a:ext cx="5257800" cy="0"/>
          </a:xfrm>
          <a:prstGeom prst="line">
            <a:avLst/>
          </a:prstGeom>
          <a:noFill/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4727448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80960" y="4727448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loop close on two phones — then switch flights and watch the agent refuse to act.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Gate2Tray OS — Pitch Deck</dc:title>
  <dc:subject>PptxGenJS Presentation</dc:subject>
  <dc:creator>Gate2Tray OS</dc:creator>
  <cp:lastModifiedBy>Gate2Tray OS</cp:lastModifiedBy>
  <cp:revision>1</cp:revision>
  <dcterms:created xsi:type="dcterms:W3CDTF">2026-07-12T09:53:43Z</dcterms:created>
  <dcterms:modified xsi:type="dcterms:W3CDTF">2026-07-12T09:53:43Z</dcterms:modified>
</cp:coreProperties>
</file>